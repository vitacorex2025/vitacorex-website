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60" y="1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probability (%)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0–30</c:v>
                </c:pt>
                <c:pt idx="1">
                  <c:v>30–60</c:v>
                </c:pt>
                <c:pt idx="2">
                  <c:v>60–90</c:v>
                </c:pt>
                <c:pt idx="3">
                  <c:v>90–120</c:v>
                </c:pt>
                <c:pt idx="4">
                  <c:v>120+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70</c:v>
                </c:pt>
                <c:pt idx="2">
                  <c:v>50</c:v>
                </c:pt>
                <c:pt idx="3">
                  <c:v>30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CA-48C0-9373-83AF1CE5AC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CE1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Days Sales Outstanding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After System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F0-43F4-9EDD-2780C0AAA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CE1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EB7B99E-5552-4CA9-9388-6C6B76AE0EF3}"/>
              </a:ext>
            </a:extLst>
          </p:cNvPr>
          <p:cNvSpPr txBox="1"/>
          <p:nvPr userDrawn="1"/>
        </p:nvSpPr>
        <p:spPr>
          <a:xfrm rot="20232183">
            <a:off x="822251" y="1979690"/>
            <a:ext cx="105474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rgbClr val="FF0000">
                    <a:alpha val="10000"/>
                  </a:srgbClr>
                </a:solidFill>
                <a:effectLst>
                  <a:glow rad="63500">
                    <a:schemeClr val="bg1">
                      <a:alpha val="30000"/>
                    </a:schemeClr>
                  </a:glow>
                  <a:outerShdw blurRad="50800" dist="38100" dir="2700000" algn="tl" rotWithShape="0">
                    <a:srgbClr val="C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</a:t>
            </a:r>
          </a:p>
          <a:p>
            <a:pPr algn="ctr"/>
            <a:r>
              <a:rPr lang="en-US" sz="72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rgbClr val="FF0000">
                    <a:alpha val="10000"/>
                  </a:srgbClr>
                </a:solidFill>
                <a:effectLst>
                  <a:glow rad="63500">
                    <a:schemeClr val="bg1">
                      <a:alpha val="30000"/>
                    </a:schemeClr>
                  </a:glow>
                  <a:outerShdw blurRad="50800" dist="38100" dir="2700000" algn="tl" rotWithShape="0">
                    <a:srgbClr val="C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CONFIDENTIAL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501A3F-6B83-6D10-7BA4-52B47F8DF366}"/>
              </a:ext>
            </a:extLst>
          </p:cNvPr>
          <p:cNvSpPr/>
          <p:nvPr/>
        </p:nvSpPr>
        <p:spPr>
          <a:xfrm rot="16200000">
            <a:off x="6212334" y="-3550546"/>
            <a:ext cx="797442" cy="11679342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10307309" cy="64633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41414"/>
                </a:solidFill>
                <a:latin typeface="Calibri"/>
              </a:defRPr>
            </a:pPr>
            <a:r>
              <a:rPr sz="3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Pre-Collection Revenue Cycle Optimization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617669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E6E6E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Dental &amp; Outpatient Chains — CFO / Ownership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7442" cy="6858000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2864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46041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Financially-driven operating system (not a collection agency)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1024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258318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581912"/>
            <a:ext cx="133241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5497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+10–20%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14819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cash uplift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9020" y="1417320"/>
            <a:ext cx="258318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17620" y="1581912"/>
            <a:ext cx="117211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5497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25–40%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7620" y="2011680"/>
            <a:ext cx="155683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Agency fee avoidance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417320"/>
            <a:ext cx="258318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581912"/>
            <a:ext cx="108555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5497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90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11680"/>
            <a:ext cx="10294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 duration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9700" y="1417320"/>
            <a:ext cx="258318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58300" y="1581912"/>
            <a:ext cx="201850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5497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DSO ↓ / Cash 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2011680"/>
            <a:ext cx="10294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lever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697480"/>
            <a:ext cx="10881360" cy="3566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AR is one of the largest controllable cash drivers in multi-location dental groups.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probability decays sharply with aging; every 30 days delay destroys conversion yield.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standardized pre-collection layer improves plan adoption, reduces defaults, and limits roll-to-agency.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Pilot-first deployment produces CFO-grade evidence (cohort curves, DSO impact, net yield) before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13628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2750" y="6565392"/>
            <a:ext cx="2616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79188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30551"/>
            <a:ext cx="10149840" cy="365046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context and why patient AR is now a board-level cash lever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AR structure and recovery decay curve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model: DSO compression, working capital release, EBITDA impact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workflow, controls, and governance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90-day pilot design, success criteria, and rollout plan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model and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21819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273664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Revenue leakage before collections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62750" y="6565392"/>
            <a:ext cx="2616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Aged patient balances rapidly lose recovery probability.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outreach lowers payment plan adoption and increases early default.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Early agency escalation creates 25–40% contingency leakage and reputational risk.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Teams lack a standardized layer that converts balances into documented commitments and autopay.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Leadership lacks consistent, comparable KPIs across locations (yield, roll-to-agency, cohort curves).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2178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Why Dental / DSO 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35541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Fast, measurable financial wins within 90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62750" y="6565392"/>
            <a:ext cx="2616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High patient responsibility share creates a large controllable cash pool.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Brand sensitivity makes “options-first” pre-collection preferable to external collections.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Multi-location standardization produces immediate operational leverage.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RCM and cash outcomes are measurable quickly (cash collected, DSO, placements, completion rates).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7404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U.S. Dental Market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23038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Context for PE-backed DSOs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62750" y="6565392"/>
            <a:ext cx="2616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4440" y="1874519"/>
            <a:ext cx="10149840" cy="2560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U.S. dental services market: $165B+ annual revenue (industry estimates).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DSO footprint expanding; consolidation accelerates standardization and KPI discipline.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Patient responsibility often represents 35–50% of revenue depending on specialty and payer mix.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Typical AR days: ~35–60 (varies by specialty and process maturity).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480560"/>
            <a:ext cx="101498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Implication: Patient-balance recovery is one of the largest controllable cash levers for dental groups.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3583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Hidden Cash in Patient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42498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financial exposure in a mid-size dental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62750" y="6565392"/>
            <a:ext cx="2616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234440" y="1874519"/>
          <a:ext cx="9966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Annual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$40,000,000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Patient Responsibility (40%)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$16,000,000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Average Patient AR (illustrative)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$5,200,000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Recovery Loss vs Optimal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10–15%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Cash Leakage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$520,000 – $780,000 /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34440" y="5257800"/>
            <a:ext cx="9966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400" b="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Meaning: most dental groups lose $500K–$1M annually in patient AR recovery before accounts ever reach collections.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715000"/>
            <a:ext cx="9966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6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Question: How much of this cash is currently invisible in your AR process?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9190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Patient AR 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44903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Why patient balances are the least structured RCM segment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62750" y="6565392"/>
            <a:ext cx="2616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55778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1645920"/>
            <a:ext cx="29953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Typical AR mix (illustrative)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234440" y="2057400"/>
          <a:ext cx="4846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Insurance 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40–50%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Patient responsibility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25–40%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Self-pay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10–20%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0" y="1417320"/>
            <a:ext cx="5166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03720" y="1645920"/>
            <a:ext cx="111440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issue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57400"/>
            <a:ext cx="4526280" cy="4389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workflows are usually standardized.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balances are handled inconsistently across clinics and teams.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documented commitments increases drift and defaults.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avoidable aging → lower yield → more agency placements.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895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Recovery Probability by 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27831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Aging destroys recovery probability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62750" y="6565392"/>
            <a:ext cx="2616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654824"/>
              </p:ext>
            </p:extLst>
          </p:nvPr>
        </p:nvGraphicFramePr>
        <p:xfrm>
          <a:off x="1234440" y="1874519"/>
          <a:ext cx="9966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34440" y="5623560"/>
            <a:ext cx="996696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400" b="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Meaning: every 30-day delay materially reduces recovery probability. The system focuses on earlier conversion to documented payment commitments.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2097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DSO Compression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36568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Working capital release from faster time-to-cash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83150"/>
              </p:ext>
            </p:extLst>
          </p:nvPr>
        </p:nvGraphicFramePr>
        <p:xfrm>
          <a:off x="1234440" y="1874519"/>
          <a:ext cx="5669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132320" y="1874519"/>
            <a:ext cx="4617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52360" y="2103119"/>
            <a:ext cx="34483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working capital math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377440"/>
            <a:ext cx="3977639" cy="2651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500" b="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DSO: 52 → 44 days (−8)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For $10M annual revenue practice: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Working capital released ≈ (8/365) × $10M ≈ $0.22M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At enterprise scale, this becomes a meaningful liquidity lever.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623560"/>
            <a:ext cx="1014984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200" b="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Note: replace with client AR and revenue to compute exact working capital impact.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2474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EBITDA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402520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Incremental recovery converts to EBITDA after costs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91513" y="6565392"/>
            <a:ext cx="33284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234440" y="1874519"/>
          <a:ext cx="9966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Assumption (illustrative)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Annual patient AR 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$5,000,000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Current recovery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25%  →  $1,250,000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Pre-collection system recovery (target)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38%  →  $1,900,000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Incremental recovered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+ $650,000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EBITDA margin example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Incremental EBITDA (example)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$97,500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34440" y="5532120"/>
            <a:ext cx="9966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EBITDA impact depends on cost structure (internal staffing, tools, fees). Use pilot to replace assumptions with observed cohort performance.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9539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Enterprise Value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43714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Why PE-backed DSOs care about small EBITDA 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234440" y="1874519"/>
          <a:ext cx="9966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Incremental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$250,000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DSO / dental multiple (illustrative)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7–9x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Enterprise value 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 $1.75M – $2.25M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34440" y="4800600"/>
            <a:ext cx="996696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6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Meaning: modest patient AR recovery improvements can materially impact enterprise valuation.</a:t>
            </a:r>
          </a:p>
          <a:p>
            <a:pPr>
              <a:defRPr sz="16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Pilot produces defensible evidence that supports scale decisions.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3329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Agency Fee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40045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Contingency fees reduce margin and enterprise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1600200"/>
            <a:ext cx="258318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1764792"/>
            <a:ext cx="117211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5497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25–40%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94560"/>
            <a:ext cx="166789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Typical contingency fee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9020" y="1600200"/>
            <a:ext cx="258318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17620" y="1764792"/>
            <a:ext cx="94448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5497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$1.0M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7620" y="2194560"/>
            <a:ext cx="13821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recovered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00200"/>
            <a:ext cx="258318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7960" y="1764792"/>
            <a:ext cx="167385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5497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$250–$400K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194560"/>
            <a:ext cx="105349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Agency keeps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9700" y="1600200"/>
            <a:ext cx="258318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58300" y="1764792"/>
            <a:ext cx="176041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5497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Placements 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2194560"/>
            <a:ext cx="124950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Margin protected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971800"/>
            <a:ext cx="10149840" cy="3474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Pre-collection reduces placements by converting balances earlier into documented payment commitments.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Less roll-to-agency means: more net cash retained, fewer disputes, and brand-safe patient experience.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CFO view: This is margin protection and cash velocity improvement, not “collections outsourcing.”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19287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ROI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26100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Pilot economics in CFO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55778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1645920"/>
            <a:ext cx="282641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ROI (illustrative)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234440" y="2057400"/>
          <a:ext cx="4846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Implementation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$80K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Incremental recovery (cash)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$450K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ROI multiple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5.6x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Payback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3–6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0" y="1417320"/>
            <a:ext cx="5166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03720" y="1645920"/>
            <a:ext cx="24695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CFOs care about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57400"/>
            <a:ext cx="4526280" cy="4389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Net cash collected (after fees)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Cash timing (DSO / time-to-cash)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Roll-to-agency reduction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Repeatability across clinics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Governance and reporting quality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7561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90-Day Pilot Financials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30219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Data-validated before enterprise rollout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234440" y="1874519"/>
          <a:ext cx="9966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Pilot portfolio (illustrative)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Patient AR in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$2.0M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Expected 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+10–15%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Additional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$200K–$300K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Pilot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$50K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ROI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4–6x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34440" y="4983480"/>
            <a:ext cx="996696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4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Output: scale-ready playbook + CFO reporting pack (cohort curves, yield, DSO, roll-to-agency).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4185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Case Study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337464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dental group (illustrative structure)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234440" y="1874519"/>
          <a:ext cx="9966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Locations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Patient AR 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$4.5M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Autopay enrollment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Recovery rate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+13%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Agency placements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−28%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34440" y="5212080"/>
            <a:ext cx="996696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4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 during pilot to publish CFO-grade before/after results by cohort and location.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2848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Clinic-Level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32736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Pilot → standardization → enterprise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234440" y="1874519"/>
          <a:ext cx="9966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1254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1. 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3 clinics | 90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Validated uplift + playbook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2. Standardize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Policies, scripts, dashboards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Repeatable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3. Enterprise 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All clinics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Sustained cash velocity + KPI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5861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Staff Training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36872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Operational discipline without adding headcount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Payment plan negotiation and options-first framing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Script training (calls, SMS, email) with cadence caps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Compliance boundaries and escalation governance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 (disputes, hardship, bad contact data)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CRM workflow: tasks, documentation, audit trail, reporting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1360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CFO One-Page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22060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Board / ownership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234440" y="1874519"/>
          <a:ext cx="9966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1254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1254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Patient AR aging destroys recovery probability and increases agency leakage.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Pre-collection operating system: standard workflows + controls + reporting.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+10–20% net recovery; placements ↓; DSO compression; EBITDA uplift.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90-day pilot to validate before enterprise rollout.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4559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Revenue Cycle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Tool-agnostic layer on top of PMS/billing exports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cases + tasks + documentation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CFO reporting pack (weekly/monthly)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0103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Pre-Collection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Intake → segment → outreach → agreement → autopay → monitor → escalate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Convert balances into documented commitments before agency fees apply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3473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Routes accounts by balance size, age, and contactability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Standard offers per segment; exceptions reviewed by lead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23021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Offer Catalog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3/6/12-month plans with down-payment rules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Autopay default (opt-out), clear terms and cure periods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1704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Autopay Activation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Enrollment process with clear authorization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Reduces defaults and increases completion rates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1069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Monitoring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Daily exception queue (fails, disputes, bad data)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Cure notices and remediation scripts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0059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Escalation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Cure → default → acceleration → pre-suit option → agency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Governance ensures consistent, defendable decisions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4579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CFO KPI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Net yield vs baseline, roll-to-agency %, cohort curves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Autopay enrollment/completion, exception volumes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1037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Governance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Weekly ops review; monthly finance review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Quarterly optimization of offers and scripts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0686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Risk Control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Cadence caps, dispute routing, audit trail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Brand-safe tone and documentation discipline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8651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Compliance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Informational alignment to FDCPA/Reg F where applicable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Client retains collections authority unless separately structured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2066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&amp;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Least-privilege access; encrypted exports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Retention policy aligned to compliance program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0696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CRM / Data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HubSpot/Salesforce-style CRM or RCM tooling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Single source of truth for commitments + activity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2370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Reporting Pack (Monthly)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Net recovery yield, cohort performance, DSO trends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Placements avoided, patient experience indicators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2175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90-Day Pilot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Scope: clinics, AR cohorts, communication channels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Success criteria and governance cadence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4115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Pilot Success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Incremental cash, yield uplift, DSO impact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Placements ↓, default rate ↓, disputes stable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0718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Week 1–2: diagnostic + setup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Week 3–6: execution + training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Week 7–12: optimization + reporting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31373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Commercial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+ training + optimization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Pricing depends on clinic count, tools, AR volume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1040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Success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Higher net recovery with fewer external placements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Repeatable playbook + CFO-grade reporting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51245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Common Objections &amp;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We already use an agency → reduce placements first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Staff overloaded → automation + scripts focus on exceptions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8910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Patient Experience Safeguards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Options-first messaging, quiet hours, dispute/hardship routing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Reputation protection and review monitoring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1094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We Need From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AR export (aging + balances + contact fields)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Current policy and agency fee structure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18117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15-minute fit call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NDA + AR export request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Pilot scope confirmation and launch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42979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Appendix: KPI Definitions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Net recovery, roll-to-agency, completion rate, cash velocity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64347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Appendix: Outreach Cadence (Example)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Day 1 notice; Day 7 plan; Day 14 reminder; Day 21 final notice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12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56028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Appendix: Roles &amp; Responsibilities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565392"/>
            <a:ext cx="6623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VitaCoreX LLC | Steven Miller | VitaCoreX2025@gmail.com | www.VitaCoreXLLC.com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5806" y="6565392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014984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Finance: KPI targets; Ops/RCM: execution; Billing: disputes; Agency: last-mile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7200" dirty="0" smtClean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2560</Words>
  <Application>Microsoft Office PowerPoint</Application>
  <PresentationFormat>Widescreen</PresentationFormat>
  <Paragraphs>375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Sergei Zaiats</dc:creator>
  <cp:keywords/>
  <dc:description>generated using python-pptx</dc:description>
  <cp:lastModifiedBy>Sergei Zaiats</cp:lastModifiedBy>
  <cp:revision>2</cp:revision>
  <dcterms:created xsi:type="dcterms:W3CDTF">2013-01-27T09:14:16Z</dcterms:created>
  <dcterms:modified xsi:type="dcterms:W3CDTF">2026-03-05T04:24:04Z</dcterms:modified>
  <cp:category/>
</cp:coreProperties>
</file>